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914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6087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사후 알람 중심 감시를 사전 조기 탐지로 전환하는 프로젝트. 1차는 데이터셋 선정과 기초 모델 적용까지.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문제-목표-대상을 먼저 정의. 오른쪽 단선결선도로 154k~220V 위계와 TIE/DIS 결선을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논리: 공개=채점용, 현장=적용용. 라벨 부재를 공개 벤치마크로 우회.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 데이터=현장 SCADA 3가지 근거. 보조=라벨 있는 공개 벤치마크로 채점.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EPIC은 전력 도메인이라 정합성 높음. PowerGraph는 그래프/설명 검증용(시계열 아님)임을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 데이터 6대 특성. exception 압축과 라벨 희소가 설계를 규정. 물리 제약은 잔차 피처로.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 2로 원천→전처리→모델→진단 흐름 설명. AGENT는 진단/설명 레이어(보라 노드)로 툴 셸프 호출.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정상 패턴 학습 → 재구성/이상 오차. 물리 잔차를 피처로 추가한 점이 포인트.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합성 데이터로 파이프라인이 실제 도는 것과 기초 성능을 입증. AE&gt;IF&gt;PCA. 실데이터 결과는 후속 교체.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요약 3점 + #2 예고(토폴로지 GDN, 향상률, 에이전트). 한계는 솔직하게.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1234440"/>
            <a:ext cx="256032" cy="256032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3444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F9F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산업인공지능 문제해결 프로젝트   #1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전력 수배전 계통 이상탐지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7D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SCADA 트렌드 기반 조기 이상탐지  ｜  데이터셋 선정과 기초 모델 적용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68680" y="4114800"/>
            <a:ext cx="2926080" cy="0"/>
          </a:xfrm>
          <a:prstGeom prst="line">
            <a:avLst/>
          </a:prstGeom>
          <a:noFill/>
          <a:ln w="25400">
            <a:solidFill>
              <a:srgbClr val="EF9F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A4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발표자  </a:t>
            </a: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정기흔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4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대상: 154kV 수전 ~ 220V 수배전 (WinCC OA)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46304" cy="146304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및 목적: 사후 알람에서 사전 탐지로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F6F8FC"/>
          </a:solidFill>
          <a:ln w="12700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007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5F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SCADA는 임계값 초과로 DI 알람이 다발한 뒤에야 인지 → 사후 대응에 머문다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97180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F6F8FC"/>
          </a:solidFill>
          <a:ln w="12700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31181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5F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747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패턴을 학습해 미세한 이탈을 조기 포착하고, 토폴로지로 위치와 원인까지 설명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38912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F6F8FC"/>
          </a:solidFill>
          <a:ln w="12700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45354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5F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8920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154kV 수전 ~ 220V 수배전(반도체 FAB), GIS, BTR, VCB, LTR, ACB 위계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574243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대상 계통 단선결선도</a:t>
            </a:r>
            <a:endParaRPr lang="en-US" sz="1100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1" y="1512312"/>
            <a:ext cx="5697220" cy="4230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46304" cy="146304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접근: 토폴로지 인지 이상탐지 + 이원 데이터 전략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데이터는 고장 라벨이 거의 없다. 라벨이 있는 공개 데이터로 성능을 채점하고, 검증된 파이프라인을 현장에 이식한다.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07492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7744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1D9E7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벤치마크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71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채점과 성능 실증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3520440"/>
            <a:ext cx="4526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보유 → F1 등 정량 지표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SWaT/WADI/EPIC/PowerGraph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방법이 되는지 먼저 증명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47104" y="2103120"/>
            <a:ext cx="507492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21424" y="237744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185FA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21424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SCADA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21424" y="2971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적용과 현장 입증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839712" y="3520440"/>
            <a:ext cx="4526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운전 데이터(6개월)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계통 토폴로지 prior 주입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조기 탐지 + 국소화와 설명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0" y="3566160"/>
            <a:ext cx="731520" cy="502920"/>
          </a:xfrm>
          <a:prstGeom prst="rightArrow">
            <a:avLst/>
          </a:prstGeom>
          <a:solidFill>
            <a:srgbClr val="EF9F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데이터로 검증한 파이프라인을 라벨 없는 현장 데이터로 이식 — 두 축은 대체재가 아니라 보완재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46304" cy="146304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데이터셋 선정 이유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5F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주 데이터셋: 실 현장 SCADA 트렌드 (Oracle DB, 3초)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6F8FC"/>
          </a:solidFill>
          <a:ln w="12700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21408"/>
            <a:ext cx="457200" cy="4572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21396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산업 데이터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6974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전류, 전압, 역률 등 물리적으로 해석 가능한 변수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51960" y="192024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6F8FC"/>
          </a:solidFill>
          <a:ln w="12700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07992" y="2121408"/>
            <a:ext cx="457200" cy="45720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07992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21396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토폴로지 prior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6974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명명규칙 룰베이스로 계통 위상 그래프 확보 → 모델에 주입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36992" y="192024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6F8FC"/>
          </a:solidFill>
          <a:ln w="12700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93024" y="2121408"/>
            <a:ext cx="457200" cy="45720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93024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759952" y="21396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목표 부합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11312" y="26974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사후 알람이 아닌 조기 탐지, 조건기반 정비(CBM) 전환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977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5F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보조 검증 데이터셋: 공개 라벨 벤치마크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928" y="443484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 w="12700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2960" y="4617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데이터는 고장 라벨이 희소하여 precision, recall 등 정량 지표 산출이 어렵다. 따라서 위상을 가진 다변량 산업 센서 시계열에 드문 이상이 섞인 동일 구조의 공개 벤치마크에서 성능을 먼저 채점하고, 검증된 파이프라인을 현장 데이터에 이식한다.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46304" cy="146304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데이터셋: 정식 명칭과 특성 및 활용</a:t>
            </a:r>
            <a:endParaRPr lang="en-US" sz="2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64240" cy="374904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데이터셋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도메인 / 구성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 과제 활용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5FA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SWaT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5FA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(Secure Water Treatment)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정수 처리 ICS, 센서/액추에이터 51개, 정상 7일 + 공격 4일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정상/공격 라벨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시계열 이상탐지 기초 성능(F1) 검증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5FA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WADI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5FA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(WAter DIstribution)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배수 ICS, 센서/액추에이터 123개, 정상 14일 + 공격 2일(15회)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공격 + 이벤트별 근본원인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탐지 + 진단(국소화) 검증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5FA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EPIC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5FA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(Electric Power and Intelligent Control)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전력 테스트베드, 본 과제와 도메인 직접 일치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공격/이벤트 라벨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전력 도메인 시계열 검증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5FA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PowerGraph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85FA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(NeurIPS 2024)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전력망 그래프(IEEE 24/39/118, UK), 노드=모선, 엣지=선로/변압기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DNS 라벨 + 엣지 정답 설명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그래프와 설명가능성 검증 (시계열 아님)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SWaT, WADI, EPIC은 싱가포르 SUTD iTrust가 공개하는 실제 테스트베드 데이터(PLC/SCADA 기반)로 본 대상과 아키텍처가 유사하다.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46304" cy="146304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데이터 특성 (실 SCADA)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6F8FC"/>
          </a:solidFill>
          <a:ln w="12700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3794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185FA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44168" y="18196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수집/저장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3774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WinCC OA 1초 수집, Oracle 3초 exception 압축 저장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160020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6F8FC"/>
          </a:solidFill>
          <a:ln w="12700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07992" y="183794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1D9E7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0" y="18196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불규칙 샘플링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3774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 시에만 기록 → 리샘플링과 보간 필요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36992" y="160020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6F8FC"/>
          </a:solidFill>
          <a:ln w="12700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93024" y="183794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F9F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14232" y="18196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설비당 다중 센서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211312" y="23774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EQP당 STATUS(DI), CURRENT, VOLTAGE, PF, 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56616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6F8FC"/>
          </a:solidFill>
          <a:ln w="12700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80390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7F77D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44168" y="37856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위계 구조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3434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154kV → 6.6kV → 220V, TIE/DIS 결선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51960" y="356616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6F8FC"/>
          </a:solidFill>
          <a:ln w="12700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07992" y="380390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D85A3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29200" y="37856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희소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3434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라벨 거의 없음, DI 알람은 약(弱)라벨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936992" y="356616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6F8FC"/>
          </a:solidFill>
          <a:ln w="12700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93024" y="380390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185FA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14232" y="37856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 제약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211312" y="43434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= √3 × V × I × cosφ → 물리 잔차 피처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46304" cy="146304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플로우와 AGENT 적용 지점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에이전트(LangGraph)는 탐지 하류에서 기여 태그, 물리룰, DI 알람, 토폴로지를 tool-calling으로 조회해 근본원인과 조치를 생성</a:t>
            </a:r>
            <a:endParaRPr lang="en-US" sz="115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028700"/>
            <a:ext cx="11064240" cy="50347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46304" cy="146304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기초 모델 적용: 베이스라인 파이프라인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514600" cy="2194560"/>
          </a:xfrm>
          <a:prstGeom prst="roundRect">
            <a:avLst>
              <a:gd name="adj" fmla="val 2500"/>
            </a:avLst>
          </a:prstGeom>
          <a:solidFill>
            <a:srgbClr val="F6F8FC"/>
          </a:solidFill>
          <a:ln w="12700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1328" y="2011680"/>
            <a:ext cx="658368" cy="65836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1328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3200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리샘플링과 보간, 정규화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52928" y="2697480"/>
            <a:ext cx="457200" cy="365760"/>
          </a:xfrm>
          <a:prstGeom prst="rightArrow">
            <a:avLst/>
          </a:prstGeom>
          <a:solidFill>
            <a:srgbClr val="D7DEE8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0" y="1783080"/>
            <a:ext cx="2514600" cy="2194560"/>
          </a:xfrm>
          <a:prstGeom prst="roundRect">
            <a:avLst>
              <a:gd name="adj" fmla="val 2500"/>
            </a:avLst>
          </a:prstGeom>
          <a:solidFill>
            <a:srgbClr val="F6F8FC"/>
          </a:solidFill>
          <a:ln w="12700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2011680"/>
            <a:ext cx="658368" cy="658368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51960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피처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200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 잔차(P=√3×V×I×cosφ) 포함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23560" y="2697480"/>
            <a:ext cx="457200" cy="365760"/>
          </a:xfrm>
          <a:prstGeom prst="rightArrow">
            <a:avLst/>
          </a:prstGeom>
          <a:solidFill>
            <a:srgbClr val="D7DEE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08192" y="1783080"/>
            <a:ext cx="2514600" cy="2194560"/>
          </a:xfrm>
          <a:prstGeom prst="roundRect">
            <a:avLst>
              <a:gd name="adj" fmla="val 2500"/>
            </a:avLst>
          </a:prstGeom>
          <a:solidFill>
            <a:srgbClr val="F6F8FC"/>
          </a:solidFill>
          <a:ln w="12700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22592" y="2011680"/>
            <a:ext cx="658368" cy="658368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22592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199632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45352" y="3200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Isolation Forest / PCA / Autoencoder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394192" y="2697480"/>
            <a:ext cx="457200" cy="365760"/>
          </a:xfrm>
          <a:prstGeom prst="rightArrow">
            <a:avLst/>
          </a:prstGeom>
          <a:solidFill>
            <a:srgbClr val="D7DEE8"/>
          </a:solidFill>
          <a:ln/>
        </p:spPr>
      </p:sp>
      <p:sp>
        <p:nvSpPr>
          <p:cNvPr id="22" name="Shape 20"/>
          <p:cNvSpPr/>
          <p:nvPr/>
        </p:nvSpPr>
        <p:spPr>
          <a:xfrm>
            <a:off x="8878824" y="1783080"/>
            <a:ext cx="2514600" cy="2194560"/>
          </a:xfrm>
          <a:prstGeom prst="roundRect">
            <a:avLst>
              <a:gd name="adj" fmla="val 2500"/>
            </a:avLst>
          </a:prstGeom>
          <a:solidFill>
            <a:srgbClr val="F6F8FC"/>
          </a:solidFill>
          <a:ln w="12700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793224" y="2011680"/>
            <a:ext cx="658368" cy="65836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793224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8970264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스코어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015984" y="3200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재구성/이상 오차 → 임계 판정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343400"/>
            <a:ext cx="11064240" cy="1508760"/>
          </a:xfrm>
          <a:prstGeom prst="roundRect">
            <a:avLst>
              <a:gd name="adj" fmla="val 3636"/>
            </a:avLst>
          </a:prstGeom>
          <a:solidFill>
            <a:srgbClr val="EEF2F8"/>
          </a:solidFill>
          <a:ln w="12700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2296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5F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기초 모델 (비지도)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49377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Isolation Forest — 트리 기반 이상격리(ML)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PCA 재구성오차 — 선형 baseline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Autoencoder — 정상만 학습, 재구성오차를 이상 스코어로 사용(신경망)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46304" cy="146304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기초 성능 결과 (합성 데이터 검증)</a:t>
            </a:r>
            <a:endParaRPr lang="en-US" sz="2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80160"/>
            <a:ext cx="9784080" cy="3355848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892040"/>
          <a:ext cx="6035040" cy="151790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ROC-AUC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A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Isolation Forest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A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0.827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A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0.403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A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PCA (linear)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A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0.587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A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0.174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A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Autoencoder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32A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0.874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32A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0.624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858000" y="4892040"/>
            <a:ext cx="4754880" cy="1600200"/>
          </a:xfrm>
          <a:prstGeom prst="roundRect">
            <a:avLst>
              <a:gd name="adj" fmla="val 3429"/>
            </a:avLst>
          </a:prstGeom>
          <a:solidFill>
            <a:srgbClr val="EEF2F8"/>
          </a:solidFill>
          <a:ln w="12700">
            <a:solidFill>
              <a:srgbClr val="D7DEE8"/>
            </a:solidFill>
            <a:prstDash val="solid"/>
          </a:ln>
          <a:effectLst>
            <a:outerShdw blurRad="762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7086600" y="5029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5F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Autoencoder 최우수  </a:t>
            </a:r>
            <a:r>
              <a:rPr lang="en-US" sz="1400" b="1" dirty="0">
                <a:solidFill>
                  <a:srgbClr val="1D9E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ROC-AUC 0.874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086600" y="544068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 붕괴와 물리 위반형 이상에서 선형(PCA)을 크게 앞섬. 실데이터(iTrust 승인/현장 추출) 도착 시 동일 파이프라인으로 재측정.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22960" y="822960"/>
            <a:ext cx="237744" cy="237744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88720" y="685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요약과 다음 단계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88720" y="1783080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185FA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1783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17647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SCADA(적용) + 공개 벤치마크(채점)의 이원 구성. 라벨 부재를 공개 데이터로 우회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2624328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1D9E7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26243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기초 모델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IF/PCA/AE 적용, 합성 검증에서 Autoencoder 최우수(AUC 0.874)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3465576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D85A3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346557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44728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고장 라벨 부재 → 공개 데이터 채점 + 합성 이상과 물리 pseudo-label 프록시로 보완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88720" y="4526280"/>
            <a:ext cx="10058400" cy="0"/>
          </a:xfrm>
          <a:prstGeom prst="line">
            <a:avLst/>
          </a:prstGeom>
          <a:noFill/>
          <a:ln w="12700">
            <a:solidFill>
              <a:srgbClr val="3A4E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88720" y="4754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F9F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 (#2 모델 개선)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52120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계통 토폴로지를 prior로 주입한 그래프 기반 모델(GDN)로 개선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데이터 라벨로 기초 모델 대비 향상률을 정직하게 제시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8E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에이전트(LangGraph)로 국소화와 설명 결합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977</Words>
  <Application>Microsoft Office PowerPoint</Application>
  <PresentationFormat>사용자 지정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정기흔</cp:lastModifiedBy>
  <cp:revision>5</cp:revision>
  <dcterms:created xsi:type="dcterms:W3CDTF">2026-09-24T15:10:59Z</dcterms:created>
  <dcterms:modified xsi:type="dcterms:W3CDTF">2026-09-27T14:26:36Z</dcterms:modified>
</cp:coreProperties>
</file>